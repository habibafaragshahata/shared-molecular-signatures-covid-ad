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lear Sans" panose="020B0604020202020204" charset="0"/>
      <p:regular r:id="rId19"/>
    </p:embeddedFont>
    <p:embeddedFont>
      <p:font typeface="Clear Sans Bold" panose="020B0604020202020204" charset="0"/>
      <p:regular r:id="rId20"/>
    </p:embeddedFont>
    <p:embeddedFont>
      <p:font typeface="Clear Sans Medium" panose="020B0604020202020204" charset="0"/>
      <p:regular r:id="rId21"/>
    </p:embeddedFont>
    <p:embeddedFont>
      <p:font typeface="Tenor San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371988"/>
            <a:ext cx="9763125" cy="5450072"/>
            <a:chOff x="0" y="190500"/>
            <a:chExt cx="13017500" cy="7266764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0"/>
              <a:ext cx="13017500" cy="372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500"/>
                </a:lnSpc>
              </a:pPr>
              <a:r>
                <a:rPr lang="en-US" sz="10500" spc="-210" dirty="0">
                  <a:solidFill>
                    <a:srgbClr val="113F8C"/>
                  </a:solidFill>
                  <a:latin typeface="Tenor Sans"/>
                  <a:ea typeface="Tenor Sans"/>
                  <a:cs typeface="Tenor Sans"/>
                  <a:sym typeface="Tenor Sans"/>
                </a:rPr>
                <a:t>Multi-Omics Meta-Analysis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421645"/>
              <a:ext cx="13017500" cy="303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/>
                <a:t>Tamim Alaa</a:t>
              </a:r>
              <a:r>
                <a:rPr lang="en-US" sz="3200" dirty="0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– </a:t>
              </a:r>
              <a:r>
                <a:rPr lang="en-US" sz="3200" dirty="0"/>
                <a:t>211002002</a:t>
              </a:r>
            </a:p>
            <a:p>
              <a:pPr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/>
                <a:t>Hana Mohamed </a:t>
              </a:r>
              <a:r>
                <a:rPr lang="en-US" sz="3200" dirty="0" err="1"/>
                <a:t>Hikal</a:t>
              </a:r>
              <a:r>
                <a:rPr lang="en-US" sz="3200" dirty="0"/>
                <a:t> – 231000300</a:t>
              </a:r>
            </a:p>
            <a:p>
              <a:pPr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/>
                <a:t>Asmaa Ragab – 221001773</a:t>
              </a:r>
            </a:p>
            <a:p>
              <a:pPr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/>
                <a:t>Habiba Farag - 221001888</a:t>
              </a:r>
              <a:endParaRPr lang="en-US" sz="3200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8774635" y="7396104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562086"/>
            <a:ext cx="832485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113F8C"/>
                </a:solidFill>
                <a:latin typeface="Tenor Sans"/>
                <a:ea typeface="Tenor Sans"/>
                <a:cs typeface="Tenor Sans"/>
                <a:sym typeface="Tenor Sans"/>
              </a:rPr>
              <a:t>Abstract and Overview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34675" y="1562086"/>
            <a:ext cx="6886575" cy="1944877"/>
            <a:chOff x="0" y="0"/>
            <a:chExt cx="9182100" cy="2593170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STUDY PURPOSE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46176"/>
              <a:ext cx="91821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This study explores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molecular connections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between COVID-19 and Alzheimer’s Disease, emphasizing their shared pathways and biological implications.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34675" y="4248150"/>
            <a:ext cx="6886575" cy="1944732"/>
            <a:chOff x="0" y="0"/>
            <a:chExt cx="9182100" cy="2592977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KEY FINDINGS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45982"/>
              <a:ext cx="91821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analysis revealed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20 shared DEGs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with 7 genes regulated similarly between both diseases, indicating significant molecular overlap.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34675" y="6934200"/>
            <a:ext cx="6886575" cy="2312486"/>
            <a:chOff x="0" y="0"/>
            <a:chExt cx="9182100" cy="308331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COMMON PATHWAYS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46158"/>
              <a:ext cx="91821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Identified pathways include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mitochondrial dysfunction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oxidative phosphorylation, and neuroinflammation, highlighting critical links between the two diseases' mechanisms.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1A75FF"/>
                </a:solidFill>
                <a:latin typeface="Tenor Sans"/>
                <a:ea typeface="Tenor Sans"/>
                <a:cs typeface="Tenor Sans"/>
                <a:sym typeface="Tenor Sans"/>
              </a:rPr>
              <a:t>Background Overview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5143500"/>
            <a:ext cx="5448300" cy="2312513"/>
            <a:chOff x="0" y="0"/>
            <a:chExt cx="7264400" cy="3083350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SARS-COV-2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SARS-CoV-2 primarily impacts the respiratory system but also leads to systemic and neurological effects, complicating patient recovery and health.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5143500"/>
            <a:ext cx="5448300" cy="2312513"/>
            <a:chOff x="0" y="0"/>
            <a:chExt cx="7264400" cy="3083350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ALZHEIMER’S DISEASE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Alzheimer's Disease is a progressive neurodegenerative disorder characterized by cognitive decline, memory loss, and amyloid-beta plaque accumulation in the brain.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143500"/>
            <a:ext cx="5448300" cy="2680135"/>
            <a:chOff x="0" y="0"/>
            <a:chExt cx="7264400" cy="357351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CLINICAL LINK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46193"/>
              <a:ext cx="7264400" cy="2427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Evidence suggests COVID-19 may accelerate neurodegeneration or exacerbate existing Alzheimer’s symptoms, raising significant concerns for affected individuals and healthcare systems.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1A75FF"/>
                </a:solidFill>
                <a:latin typeface="Tenor Sans"/>
                <a:ea typeface="Tenor Sans"/>
                <a:cs typeface="Tenor Sans"/>
                <a:sym typeface="Tenor Sans"/>
              </a:rPr>
              <a:t>Neurological Implications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5143500"/>
            <a:ext cx="5448300" cy="2312513"/>
            <a:chOff x="0" y="0"/>
            <a:chExt cx="7264400" cy="3083350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LONG COVID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Long COVID often includes cognitive impairment, memory loss, and brain fog, significantly impacting daily functioning and quality of life.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5143500"/>
            <a:ext cx="5448300" cy="2312513"/>
            <a:chOff x="0" y="0"/>
            <a:chExt cx="7264400" cy="3083350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NEUROINFLAMMATION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Neuroinflammation is a key mechanism in COVID-19, leading to increased brain inflammation and contributing to neurological symptoms post-infection.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143500"/>
            <a:ext cx="5448300" cy="2312513"/>
            <a:chOff x="0" y="0"/>
            <a:chExt cx="7264400" cy="308335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CYTOKINE STORM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cytokine storm triggered by COVID-19 results in excessive immune responses, which can damage brain tissue and worsen neurological outcomes.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5158784"/>
            <a:chOff x="0" y="0"/>
            <a:chExt cx="13017500" cy="6878378"/>
          </a:xfrm>
        </p:grpSpPr>
        <p:sp>
          <p:nvSpPr>
            <p:cNvPr id="5" name="TextBox 5"/>
            <p:cNvSpPr txBox="1"/>
            <p:nvPr/>
          </p:nvSpPr>
          <p:spPr>
            <a:xfrm>
              <a:off x="0" y="472772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9F9F9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INTEGRATIVE BIOINFORMATICS APPROACH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921547"/>
              <a:ext cx="13017500" cy="95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9F9F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challenge of individual studies is their limited sample size; hence, integrating datasets allows for the discovery of shared molecular patterns using WGCNA.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4223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F9F9F9"/>
                  </a:solidFill>
                  <a:latin typeface="Tenor Sans"/>
                  <a:ea typeface="Tenor Sans"/>
                  <a:cs typeface="Tenor Sans"/>
                  <a:sym typeface="Tenor Sans"/>
                </a:rPr>
                <a:t>Rationale for Utilizing Multi-Omics Meta-Analysis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1A75FF"/>
                </a:solidFill>
                <a:latin typeface="Tenor Sans"/>
                <a:ea typeface="Tenor Sans"/>
                <a:cs typeface="Tenor Sans"/>
                <a:sym typeface="Tenor Sans"/>
              </a:rPr>
              <a:t>Research Objectives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5143500"/>
            <a:ext cx="5448300" cy="2312513"/>
            <a:chOff x="0" y="0"/>
            <a:chExt cx="7264400" cy="3083350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IDENTIFY DEGS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study aims to identify differentially expressed genes (DEGs) in both COVID-19 and Alzheimer’s Disease datasets, enhancing understanding of molecular connections.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5143500"/>
            <a:ext cx="5448300" cy="2312513"/>
            <a:chOff x="0" y="0"/>
            <a:chExt cx="7264400" cy="3083350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FIND SIGNATURES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By analyzing the datasets, we will find shared molecular signatures that reveal both concordant and discordant gene expression patterns between the diseases.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143500"/>
            <a:ext cx="5448300" cy="2680135"/>
            <a:chOff x="0" y="0"/>
            <a:chExt cx="7264400" cy="357351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DETERMINE PATHWAYS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46193"/>
              <a:ext cx="7264400" cy="2427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Key biological pathways common to COVID-19 and Alzheimer’s Disease will be determined, providing insights into their interconnected mechanisms and implications for treatment.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1A75FF"/>
                </a:solidFill>
                <a:latin typeface="Tenor Sans"/>
                <a:ea typeface="Tenor Sans"/>
                <a:cs typeface="Tenor Sans"/>
                <a:sym typeface="Tenor Sans"/>
              </a:rPr>
              <a:t>Data Sources and Analysis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5143500"/>
            <a:ext cx="5448300" cy="2312513"/>
            <a:chOff x="0" y="0"/>
            <a:chExt cx="7264400" cy="3083350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COVID-19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dataset GSE157103 comprises blood RNA-seq samples from COVID-19 patients, facilitating insights into immune responses and gene expression changes.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5143500"/>
            <a:ext cx="5448300" cy="2312513"/>
            <a:chOff x="0" y="0"/>
            <a:chExt cx="7264400" cy="3083350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ALZHEIMER’S DISEASE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GSE5281 contains brain microarray data from Alzheimer’s patients, providing critical information about neurodegenerative changes and molecular signatures in AD.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143500"/>
            <a:ext cx="5448300" cy="2312513"/>
            <a:chOff x="0" y="0"/>
            <a:chExt cx="7264400" cy="308335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ANALYSIS PIPELINE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analysis involved preprocessing, differential expression analysis using limma, and functional enrichment assessments through Gene Ontology and KEGG pathways.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59447" y="2201629"/>
            <a:ext cx="5655603" cy="4517413"/>
          </a:xfrm>
          <a:custGeom>
            <a:avLst/>
            <a:gdLst/>
            <a:ahLst/>
            <a:cxnLst/>
            <a:rect l="l" t="t" r="r" b="b"/>
            <a:pathLst>
              <a:path w="5655603" h="4517413">
                <a:moveTo>
                  <a:pt x="0" y="0"/>
                </a:moveTo>
                <a:lnTo>
                  <a:pt x="5655603" y="0"/>
                </a:lnTo>
                <a:lnTo>
                  <a:pt x="5655603" y="4517413"/>
                </a:lnTo>
                <a:lnTo>
                  <a:pt x="0" y="45174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305146" y="2205264"/>
            <a:ext cx="5677708" cy="4513777"/>
          </a:xfrm>
          <a:custGeom>
            <a:avLst/>
            <a:gdLst/>
            <a:ahLst/>
            <a:cxnLst/>
            <a:rect l="l" t="t" r="r" b="b"/>
            <a:pathLst>
              <a:path w="5677708" h="4513777">
                <a:moveTo>
                  <a:pt x="0" y="0"/>
                </a:moveTo>
                <a:lnTo>
                  <a:pt x="5677708" y="0"/>
                </a:lnTo>
                <a:lnTo>
                  <a:pt x="5677708" y="4513778"/>
                </a:lnTo>
                <a:lnTo>
                  <a:pt x="0" y="4513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544832" y="2191364"/>
            <a:ext cx="4704537" cy="4945636"/>
          </a:xfrm>
          <a:custGeom>
            <a:avLst/>
            <a:gdLst/>
            <a:ahLst/>
            <a:cxnLst/>
            <a:rect l="l" t="t" r="r" b="b"/>
            <a:pathLst>
              <a:path w="4704537" h="4945636">
                <a:moveTo>
                  <a:pt x="0" y="0"/>
                </a:moveTo>
                <a:lnTo>
                  <a:pt x="4704536" y="0"/>
                </a:lnTo>
                <a:lnTo>
                  <a:pt x="4704536" y="4945637"/>
                </a:lnTo>
                <a:lnTo>
                  <a:pt x="0" y="49456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105025" y="500726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1A75FF"/>
                </a:solidFill>
                <a:latin typeface="Tenor Sans"/>
                <a:ea typeface="Tenor Sans"/>
                <a:cs typeface="Tenor Sans"/>
                <a:sym typeface="Tenor Sans"/>
              </a:rPr>
              <a:t>Differential Expression Results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66750" y="7581191"/>
            <a:ext cx="5448300" cy="2312513"/>
            <a:chOff x="0" y="0"/>
            <a:chExt cx="7264400" cy="3083350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COVID-19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 total of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231 differentially expressed genes (DEGs)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were identified in COVID-19 samples, with 118 genes upregulated and 113 downregulated.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19850" y="7581191"/>
            <a:ext cx="5448300" cy="2312513"/>
            <a:chOff x="0" y="0"/>
            <a:chExt cx="7264400" cy="308335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ALZHEIMER’S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In Alzheimer’s disease,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3,654 DEGs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were detected, comprising 1,411 upregulated genes and 2,243 downregulated genes, highlighting extensive molecular changes.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72950" y="7581191"/>
            <a:ext cx="5448300" cy="2312513"/>
            <a:chOff x="0" y="0"/>
            <a:chExt cx="7264400" cy="308335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OVERLAP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meta-analysis revealed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20 shared DEGs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between the two conditions, including 7 genes that are concordantly regulated, indicating significant molecular intersections.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974752" y="1929568"/>
            <a:ext cx="7701796" cy="6180691"/>
          </a:xfrm>
          <a:custGeom>
            <a:avLst/>
            <a:gdLst/>
            <a:ahLst/>
            <a:cxnLst/>
            <a:rect l="l" t="t" r="r" b="b"/>
            <a:pathLst>
              <a:path w="7701796" h="6180691">
                <a:moveTo>
                  <a:pt x="0" y="0"/>
                </a:moveTo>
                <a:lnTo>
                  <a:pt x="7701796" y="0"/>
                </a:lnTo>
                <a:lnTo>
                  <a:pt x="7701796" y="6180691"/>
                </a:lnTo>
                <a:lnTo>
                  <a:pt x="0" y="61806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046139" y="500726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1A75FF"/>
                </a:solidFill>
                <a:latin typeface="Tenor Sans"/>
                <a:ea typeface="Tenor Sans"/>
                <a:cs typeface="Tenor Sans"/>
                <a:sym typeface="Tenor Sans"/>
              </a:rPr>
              <a:t>Shared Biological Pathways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66750" y="8389534"/>
            <a:ext cx="5448300" cy="1775289"/>
            <a:chOff x="0" y="0"/>
            <a:chExt cx="7264400" cy="2367052"/>
          </a:xfrm>
        </p:grpSpPr>
        <p:sp>
          <p:nvSpPr>
            <p:cNvPr id="6" name="TextBox 6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COVID-19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29895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COVID-19 is characterized by robust inflammatory pathways, which can lead to significant immune system activation and systemic effects on health.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341336" y="8389534"/>
            <a:ext cx="5487557" cy="1775289"/>
            <a:chOff x="0" y="0"/>
            <a:chExt cx="7316743" cy="2367052"/>
          </a:xfrm>
        </p:grpSpPr>
        <p:sp>
          <p:nvSpPr>
            <p:cNvPr id="9" name="TextBox 9"/>
            <p:cNvSpPr txBox="1"/>
            <p:nvPr/>
          </p:nvSpPr>
          <p:spPr>
            <a:xfrm>
              <a:off x="52343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ALZHEIMER’S DISEASE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29895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Energy metabolism disruption is a hallmark of Alzheimer’s Disease, affecting neuronal function and contributing to the progression of cognitive decline.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72950" y="8389534"/>
            <a:ext cx="5448300" cy="1775289"/>
            <a:chOff x="0" y="0"/>
            <a:chExt cx="7264400" cy="2367052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COMMON THEMES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429895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Both conditions demonstrate mitochondrial dysfunction, linking cellular energy deficits to neuroinflammation, which may exacerbate cognitive impairments in affected individuals.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039835" y="1929568"/>
            <a:ext cx="7689818" cy="6180691"/>
          </a:xfrm>
          <a:custGeom>
            <a:avLst/>
            <a:gdLst/>
            <a:ahLst/>
            <a:cxnLst/>
            <a:rect l="l" t="t" r="r" b="b"/>
            <a:pathLst>
              <a:path w="7689818" h="6180691">
                <a:moveTo>
                  <a:pt x="0" y="0"/>
                </a:moveTo>
                <a:lnTo>
                  <a:pt x="7689818" y="0"/>
                </a:lnTo>
                <a:lnTo>
                  <a:pt x="7689818" y="6180691"/>
                </a:lnTo>
                <a:lnTo>
                  <a:pt x="0" y="6180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440576" y="1671001"/>
            <a:ext cx="8180674" cy="6564991"/>
          </a:xfrm>
          <a:custGeom>
            <a:avLst/>
            <a:gdLst/>
            <a:ahLst/>
            <a:cxnLst/>
            <a:rect l="l" t="t" r="r" b="b"/>
            <a:pathLst>
              <a:path w="8180674" h="6564991">
                <a:moveTo>
                  <a:pt x="0" y="0"/>
                </a:moveTo>
                <a:lnTo>
                  <a:pt x="8180674" y="0"/>
                </a:lnTo>
                <a:lnTo>
                  <a:pt x="8180674" y="6564991"/>
                </a:lnTo>
                <a:lnTo>
                  <a:pt x="0" y="6564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046139" y="500726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1A75FF"/>
                </a:solidFill>
                <a:latin typeface="Tenor Sans"/>
                <a:ea typeface="Tenor Sans"/>
                <a:cs typeface="Tenor Sans"/>
                <a:sym typeface="Tenor Sans"/>
              </a:rPr>
              <a:t>Shared Biological Pathways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66750" y="8389534"/>
            <a:ext cx="5448300" cy="1775289"/>
            <a:chOff x="0" y="0"/>
            <a:chExt cx="7264400" cy="2367052"/>
          </a:xfrm>
        </p:grpSpPr>
        <p:sp>
          <p:nvSpPr>
            <p:cNvPr id="6" name="TextBox 6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COVID-19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29895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COVID-19 is characterized by robust inflammatory pathways, which can lead to significant immune system activation and systemic effects on health.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666750" y="1671001"/>
            <a:ext cx="8372004" cy="6718533"/>
          </a:xfrm>
          <a:custGeom>
            <a:avLst/>
            <a:gdLst/>
            <a:ahLst/>
            <a:cxnLst/>
            <a:rect l="l" t="t" r="r" b="b"/>
            <a:pathLst>
              <a:path w="8372004" h="6718533">
                <a:moveTo>
                  <a:pt x="0" y="0"/>
                </a:moveTo>
                <a:lnTo>
                  <a:pt x="8372004" y="0"/>
                </a:lnTo>
                <a:lnTo>
                  <a:pt x="8372004" y="6718533"/>
                </a:lnTo>
                <a:lnTo>
                  <a:pt x="0" y="67185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6341336" y="8389534"/>
            <a:ext cx="5487557" cy="1775289"/>
            <a:chOff x="0" y="0"/>
            <a:chExt cx="7316743" cy="2367052"/>
          </a:xfrm>
        </p:grpSpPr>
        <p:sp>
          <p:nvSpPr>
            <p:cNvPr id="10" name="TextBox 10"/>
            <p:cNvSpPr txBox="1"/>
            <p:nvPr/>
          </p:nvSpPr>
          <p:spPr>
            <a:xfrm>
              <a:off x="52343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ALZHEIMER’S DISEASE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29895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Energy metabolism disruption is a hallmark of Alzheimer’s Disease, affecting neuronal function and contributing to the progression of cognitive decline.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72950" y="8389534"/>
            <a:ext cx="5448300" cy="1775289"/>
            <a:chOff x="0" y="0"/>
            <a:chExt cx="7264400" cy="236705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COMMON THEMES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29895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Both conditions demonstrate mitochondrial dysfunction, linking cellular energy deficits to neuroinflammation, which may exacerbate cognitive impairments in affected individuals.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79758" y="2030953"/>
            <a:ext cx="8003003" cy="5962237"/>
          </a:xfrm>
          <a:custGeom>
            <a:avLst/>
            <a:gdLst/>
            <a:ahLst/>
            <a:cxnLst/>
            <a:rect l="l" t="t" r="r" b="b"/>
            <a:pathLst>
              <a:path w="8003003" h="5962237">
                <a:moveTo>
                  <a:pt x="0" y="0"/>
                </a:moveTo>
                <a:lnTo>
                  <a:pt x="8003003" y="0"/>
                </a:lnTo>
                <a:lnTo>
                  <a:pt x="8003003" y="5962237"/>
                </a:lnTo>
                <a:lnTo>
                  <a:pt x="0" y="5962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144000" y="2069715"/>
            <a:ext cx="8110612" cy="5941023"/>
          </a:xfrm>
          <a:custGeom>
            <a:avLst/>
            <a:gdLst/>
            <a:ahLst/>
            <a:cxnLst/>
            <a:rect l="l" t="t" r="r" b="b"/>
            <a:pathLst>
              <a:path w="8110612" h="5941023">
                <a:moveTo>
                  <a:pt x="0" y="0"/>
                </a:moveTo>
                <a:lnTo>
                  <a:pt x="8110612" y="0"/>
                </a:lnTo>
                <a:lnTo>
                  <a:pt x="8110612" y="5941024"/>
                </a:lnTo>
                <a:lnTo>
                  <a:pt x="0" y="59410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943786" y="659163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1A75FF"/>
                </a:solidFill>
                <a:latin typeface="Tenor Sans"/>
                <a:ea typeface="Tenor Sans"/>
                <a:cs typeface="Tenor Sans"/>
                <a:sym typeface="Tenor Sans"/>
              </a:rPr>
              <a:t>WGCNA and Hub Genes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66750" y="8096464"/>
            <a:ext cx="5448300" cy="1775289"/>
            <a:chOff x="0" y="0"/>
            <a:chExt cx="7264400" cy="2367052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COVID-19 MODULES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29895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COVID-19 network consists of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14 distinct modules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highlighting various co-expressed gene groups associated with the disease's pathology.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19850" y="8096464"/>
            <a:ext cx="5448300" cy="2142911"/>
            <a:chOff x="0" y="0"/>
            <a:chExt cx="7264400" cy="285721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AD MODULES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29895"/>
              <a:ext cx="7264400" cy="2427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Alzheimer’s Disease network comprises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3 modules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indicating specific gene co-expression patterns relevant to neurodegenerative processes and disease progression.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72950" y="8096464"/>
            <a:ext cx="5448300" cy="1775289"/>
            <a:chOff x="0" y="0"/>
            <a:chExt cx="7264400" cy="236705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HUB GENES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29895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Within the COVID-19 network,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7 shared DEGs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were identified as hub genes, suggesting they play critical roles in overlapping molecular mechanisms.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714432" y="1715111"/>
            <a:ext cx="5268329" cy="6356958"/>
          </a:xfrm>
          <a:custGeom>
            <a:avLst/>
            <a:gdLst/>
            <a:ahLst/>
            <a:cxnLst/>
            <a:rect l="l" t="t" r="r" b="b"/>
            <a:pathLst>
              <a:path w="5268329" h="6356958">
                <a:moveTo>
                  <a:pt x="0" y="0"/>
                </a:moveTo>
                <a:lnTo>
                  <a:pt x="5268329" y="0"/>
                </a:lnTo>
                <a:lnTo>
                  <a:pt x="526832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530839" y="1739505"/>
            <a:ext cx="5284221" cy="6356958"/>
          </a:xfrm>
          <a:custGeom>
            <a:avLst/>
            <a:gdLst/>
            <a:ahLst/>
            <a:cxnLst/>
            <a:rect l="l" t="t" r="r" b="b"/>
            <a:pathLst>
              <a:path w="5284221" h="6356958">
                <a:moveTo>
                  <a:pt x="0" y="0"/>
                </a:moveTo>
                <a:lnTo>
                  <a:pt x="5284222" y="0"/>
                </a:lnTo>
                <a:lnTo>
                  <a:pt x="5284222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943786" y="659163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1A75FF"/>
                </a:solidFill>
                <a:latin typeface="Tenor Sans"/>
                <a:ea typeface="Tenor Sans"/>
                <a:cs typeface="Tenor Sans"/>
                <a:sym typeface="Tenor Sans"/>
              </a:rPr>
              <a:t>WGCNA and Hub Genes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66750" y="8096464"/>
            <a:ext cx="5448300" cy="1775289"/>
            <a:chOff x="0" y="0"/>
            <a:chExt cx="7264400" cy="2367052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COVID-19 MODULES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29895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COVID-19 network consists of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14 distinct modules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highlighting various co-expressed gene groups associated with the disease's pathology.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19850" y="8096464"/>
            <a:ext cx="5448300" cy="2142911"/>
            <a:chOff x="0" y="0"/>
            <a:chExt cx="7264400" cy="285721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AD MODULES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29895"/>
              <a:ext cx="7264400" cy="2427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Alzheimer’s Disease network comprises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3 modules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indicating specific gene co-expression patterns relevant to neurodegenerative processes and disease progression.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72950" y="8096464"/>
            <a:ext cx="5448300" cy="1775289"/>
            <a:chOff x="0" y="0"/>
            <a:chExt cx="7264400" cy="236705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HUB GENES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29895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Within the COVID-19 network,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7 shared DEGs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were identified as hub genes, suggesting they play critical roles in overlapping molecular mechanisms.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1A75FF"/>
                </a:solidFill>
                <a:latin typeface="Tenor Sans"/>
                <a:ea typeface="Tenor Sans"/>
                <a:cs typeface="Tenor Sans"/>
                <a:sym typeface="Tenor Sans"/>
              </a:rPr>
              <a:t>Discussion Highlights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5143500"/>
            <a:ext cx="5448300" cy="2312513"/>
            <a:chOff x="0" y="0"/>
            <a:chExt cx="7264400" cy="3083350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MITOCHONDRIAL DYSFUNCTION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study reveals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disruption in energy metabolism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indicating that mitochondrial dysfunction may play a significant role in disease progression.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5143500"/>
            <a:ext cx="5448300" cy="2312513"/>
            <a:chOff x="0" y="0"/>
            <a:chExt cx="7264400" cy="3083350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NEUROINFLAMMATION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Common immune activation linked to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neuroinflammation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suggests a shared pathway in both SARS-CoV-2 infection and Alzheimer’s Disease.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143500"/>
            <a:ext cx="5448300" cy="2312513"/>
            <a:chOff x="0" y="0"/>
            <a:chExt cx="7264400" cy="308335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HUB GENES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Identifying hub genes offers insights into how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viral infection may influence neurodegeneration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potentially guiding future therapeutic strategies.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1A75FF"/>
                </a:solidFill>
                <a:latin typeface="Tenor Sans"/>
                <a:ea typeface="Tenor Sans"/>
                <a:cs typeface="Tenor Sans"/>
                <a:sym typeface="Tenor Sans"/>
              </a:rPr>
              <a:t>Clinical Significance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5143500"/>
            <a:ext cx="5448300" cy="2312513"/>
            <a:chOff x="0" y="0"/>
            <a:chExt cx="7264400" cy="3083350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RISK STRATIFICATION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Identifying patients at risk for cognitive decline post-COVID enables targeted monitoring and early interventions to improve long-term outcomes.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5143500"/>
            <a:ext cx="5448300" cy="2312513"/>
            <a:chOff x="0" y="0"/>
            <a:chExt cx="7264400" cy="3083350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THERAPEUTIC POTENTIAL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Repurposing existing Alzheimer’s disease medications could enhance treatment options for patients experiencing cognitive effects due to COVID-19 infection.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143500"/>
            <a:ext cx="5448300" cy="2312513"/>
            <a:chOff x="0" y="0"/>
            <a:chExt cx="7264400" cy="308335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BIOMARKERS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seven hub genes identified may serve as potential diagnostic indicators for cognitive impairments associated with COVID-19 and Alzheimer’s disease.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1A75FF"/>
                </a:solidFill>
                <a:latin typeface="Tenor Sans"/>
                <a:ea typeface="Tenor Sans"/>
                <a:cs typeface="Tenor Sans"/>
                <a:sym typeface="Tenor Sans"/>
              </a:rPr>
              <a:t>Limitations and Future Work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5143500"/>
            <a:ext cx="5448300" cy="2312513"/>
            <a:chOff x="0" y="0"/>
            <a:chExt cx="7264400" cy="3083350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LIMITATIONS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Different tissue sources can introduce variability, complicating comparisons and limiting the generalizability of findings between COVID-19 and AD studies.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5143500"/>
            <a:ext cx="5448300" cy="2312513"/>
            <a:chOff x="0" y="0"/>
            <a:chExt cx="7264400" cy="3083350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CROSS-SECTIONAL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Cross-sectional data limits causal inferences, underscoring the need for longitudinal studies to better understand disease progression and relationships over time.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143500"/>
            <a:ext cx="5448300" cy="2312513"/>
            <a:chOff x="0" y="0"/>
            <a:chExt cx="7264400" cy="308335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FUTURE DIRECTIONS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Future research should focus on longitudinal studies to track disease evolution and experimental validation of hub genes identified in the analysis.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087176">
            <a:off x="3189187" y="-10712043"/>
            <a:ext cx="14136818" cy="12003443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113F8C"/>
                </a:solidFill>
                <a:latin typeface="Tenor Sans"/>
                <a:ea typeface="Tenor Sans"/>
                <a:cs typeface="Tenor Sans"/>
                <a:sym typeface="Tenor Sans"/>
              </a:rPr>
              <a:t>Conclusion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5143500"/>
            <a:ext cx="5448300" cy="2312513"/>
            <a:chOff x="0" y="0"/>
            <a:chExt cx="7264400" cy="3083350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MOLECULAR OVERLAP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COVID-19 and Alzheimer's Disease share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significant molecular signatures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indicating common pathways that may underlie their interconnectedness.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5143500"/>
            <a:ext cx="5448300" cy="2312513"/>
            <a:chOff x="0" y="0"/>
            <a:chExt cx="7264400" cy="3083350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HUB GENES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seven hub genes identified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may serve as critical mediators, linking viral infection effects to neurodegenerative processes in patients.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143500"/>
            <a:ext cx="5448300" cy="2312513"/>
            <a:chOff x="0" y="0"/>
            <a:chExt cx="7264400" cy="308335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3F8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CLINICAL IMPLICATIONS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These findings support clinical observations of cognitive decline post-COVID-19 and highlight the need for </a:t>
              </a:r>
              <a:r>
                <a:rPr lang="en-US" sz="2099" b="1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further investigations</a:t>
              </a:r>
              <a:r>
                <a:rPr lang="en-US" sz="20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into therapeutic interventions.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C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26989">
            <a:off x="-12431368" y="-8975965"/>
            <a:ext cx="27274407" cy="25058977"/>
          </a:xfrm>
          <a:custGeom>
            <a:avLst/>
            <a:gdLst/>
            <a:ahLst/>
            <a:cxnLst/>
            <a:rect l="l" t="t" r="r" b="b"/>
            <a:pathLst>
              <a:path w="27274407" h="2505897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111384">
            <a:off x="13680135" y="1098024"/>
            <a:ext cx="12122938" cy="11672351"/>
          </a:xfrm>
          <a:custGeom>
            <a:avLst/>
            <a:gdLst/>
            <a:ahLst/>
            <a:cxnLst/>
            <a:rect l="l" t="t" r="r" b="b"/>
            <a:pathLst>
              <a:path w="12122938" h="11672351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66750" y="1562100"/>
            <a:ext cx="1120140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113F8C"/>
                </a:solidFill>
                <a:latin typeface="Tenor Sans"/>
                <a:ea typeface="Tenor Sans"/>
                <a:cs typeface="Tenor Sans"/>
                <a:sym typeface="Tenor Sans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1073</Words>
  <Application>Microsoft Office PowerPoint</Application>
  <PresentationFormat>Custom</PresentationFormat>
  <Paragraphs>107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</vt:lpstr>
      <vt:lpstr>Arial</vt:lpstr>
      <vt:lpstr>Tenor Sans</vt:lpstr>
      <vt:lpstr>Clear Sans Medium</vt:lpstr>
      <vt:lpstr>Clear Sans</vt:lpstr>
      <vt:lpstr>Clear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Meta-Analysis</dc:title>
  <dc:description>Presentation - Multi-Omics Meta-Analysis</dc:description>
  <cp:lastModifiedBy>Ibrahim Abdelkarim Hammad</cp:lastModifiedBy>
  <cp:revision>2</cp:revision>
  <dcterms:created xsi:type="dcterms:W3CDTF">2006-08-16T00:00:00Z</dcterms:created>
  <dcterms:modified xsi:type="dcterms:W3CDTF">2026-01-15T16:50:16Z</dcterms:modified>
  <dc:identifier>DAG8Xpar6_Y</dc:identifier>
</cp:coreProperties>
</file>